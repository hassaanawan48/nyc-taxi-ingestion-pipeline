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23774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BIG DATA ANALYTICS  ·  ASSIGNMENTS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F3A5F"/>
                </a:solidFill>
                <a:latin typeface="Calibri"/>
              </a:rPr>
              <a:t>NYC Yellow Taxi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222A35"/>
                </a:solidFill>
                <a:latin typeface="Calibri"/>
              </a:rPr>
              <a:t>Ingestion, ETL &amp; Analytics on HDFS + Spark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394960" cy="21945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COURSE &amp;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Course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Big Data Analytics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Class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BSCS-13A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Course Group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Group 3 (BDA, BSCS-13A)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Project Group #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17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Institution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NUST SEECS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926080"/>
            <a:ext cx="5394960" cy="21945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GROUP 17  · 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Malik Muhammad Hassaan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CMS 460233 · Data ingestion, validation, profiling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Muhammad Ahmed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CMS 456679 · ETL pipeline, business-question SQL, optimizations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89320"/>
            <a:ext cx="11155680" cy="2857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End-to-end pipeline · 2.96M trips · HDFS warehouse · Spark SQL analytics · automated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Dataset Overview &amp; Rationale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6583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Source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NYC TLC Yellow Taxi Trip Records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File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yellow_tripdata_2024-01.parquet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Period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January 2024 (one full month)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Volume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2,964,624 raw trip records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Schema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19 columns: datetime, numeric, categorical, location IDs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Format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Parquet (binary columnar, compressed)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Provider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nyc.gov / TLC Trip Record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783080"/>
            <a:ext cx="4434840" cy="43891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87451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WHY THIS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4028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222A35"/>
                </a:solidFill>
                <a:latin typeface="Calibri"/>
              </a:rPr>
              <a:t>•  Volume &gt; 500K rows justifies HDFS + Spark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22A35"/>
                </a:solidFill>
                <a:latin typeface="Calibri"/>
              </a:rPr>
              <a:t>•  Each row is a trip — a natural fact table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22A35"/>
                </a:solidFill>
                <a:latin typeface="Calibri"/>
              </a:rPr>
              <a:t>•  Clear dimensions: time, location, payment, vendor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22A35"/>
                </a:solidFill>
                <a:latin typeface="Calibri"/>
              </a:rPr>
              <a:t>•  Contains realistic data quality issues for ETL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22A35"/>
                </a:solidFill>
                <a:latin typeface="Calibri"/>
              </a:rPr>
              <a:t>•  Public, well-documented, columnar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Data Quality Issues &amp; Cleaning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380"/>
                </a:solidFill>
                <a:latin typeface="Calibri"/>
              </a:rPr>
              <a:t>Identified during profiling (profile_data.py); resolved during ETL (etl.py).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5532120" cy="40233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ISSUE  → 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Negative fare amounts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impute with distance-bin median fare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Zero passenger count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set minimum to 1 passenger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Non-integer passenger count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round to nearest integer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Duplicate trip rows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dropDuplicates (keep first)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Trip distance outliers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cap at 99th percentile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94560"/>
            <a:ext cx="5532120" cy="40233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ISSUE  → 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Tip greater than fare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cap tip at cleaned fare amount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Missing numeric values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median imputation per column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Missing categorical codes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fallback to 0 / mode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Datetime inconsistencies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standardize to timestamp; derive duration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Future pickup timestamps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replace with hour/weekday median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BONUS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Pipeline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157984" cy="2926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215798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ingest.py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alibri"/>
              </a:rPr>
              <a:t>Download · validate · upload to HDFS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5496" y="1920240"/>
            <a:ext cx="2157984" cy="2926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25496" y="1920240"/>
            <a:ext cx="215798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2148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profile_data.py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306324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alibri"/>
              </a:rPr>
              <a:t>Schema · missing · stats · QA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8072" y="1920240"/>
            <a:ext cx="2157984" cy="2926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48072" y="1920240"/>
            <a:ext cx="215798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2148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etl.py (Spark)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06324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alibri"/>
              </a:rPr>
              <a:t>Clean · transform · model · partition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0648" y="1920240"/>
            <a:ext cx="2157984" cy="2926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1920240"/>
            <a:ext cx="215798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2148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analytics.py (Spark SQL)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8" y="306324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alibri"/>
              </a:rPr>
              <a:t>5 business questions · charts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93224" y="1920240"/>
            <a:ext cx="2157984" cy="2926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93224" y="1920240"/>
            <a:ext cx="215798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2148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4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build_final_report.py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306324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alibri"/>
              </a:rPr>
              <a:t>Bundle CSVs + charts →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Storage layer: HDFS  /warehouse/raw/...  →  /warehouse/processed/...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Compute layer: Apache Spark 3.5.8 (PySpark, Spark SQL, broadcast joins, partitioning, caching)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Warehouse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BONUS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Dimensional Model (Star Schema)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3108960" cy="1645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077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fact_trips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2,964,624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5F6F8"/>
                </a:solidFill>
                <a:latin typeface="Calibri"/>
              </a:rPr>
              <a:t>trip distance · fare · tip · revenue · 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83080"/>
            <a:ext cx="2743200" cy="1188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783080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65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Calibri"/>
              </a:rPr>
              <a:t>dim_datetime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380"/>
                </a:solidFill>
                <a:latin typeface="Calibri"/>
              </a:rPr>
              <a:t>749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783080"/>
            <a:ext cx="2743200" cy="1188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783080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965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Calibri"/>
              </a:rPr>
              <a:t>dim_payment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380"/>
                </a:solidFill>
                <a:latin typeface="Calibri"/>
              </a:rPr>
              <a:t>5 rows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120640"/>
            <a:ext cx="2743200" cy="1188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5120640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303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Calibri"/>
              </a:rPr>
              <a:t>dim_trip_category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806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380"/>
                </a:solidFill>
                <a:latin typeface="Calibri"/>
              </a:rPr>
              <a:t>3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fact_trips joins to each dimension via natural keys (datetime_key, payment_type, distance_bucket).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SLIDE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Data Analytics &amp; Visualization — 5 Business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11155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222A35"/>
                </a:solidFill>
                <a:latin typeface="Calibri"/>
              </a:rPr>
              <a:t>Q1.  How do trip volume and average fare vary by hour and day of week?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222A35"/>
                </a:solidFill>
                <a:latin typeface="Calibri"/>
              </a:rPr>
              <a:t>Q2.  What is the correlation between trip distance and fare amount?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222A35"/>
                </a:solidFill>
                <a:latin typeface="Calibri"/>
              </a:rPr>
              <a:t>Q3.  How does payment type preference change by time and location?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222A35"/>
                </a:solidFill>
                <a:latin typeface="Calibri"/>
              </a:rPr>
              <a:t>Q4.  How does average tip differ by payment type, distance, or vendor?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222A35"/>
                </a:solidFill>
                <a:latin typeface="Calibri"/>
              </a:rPr>
              <a:t>Q5.  Which pickup/dropoff location pairs have highest volume and fare?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Source: Dataset_Justification.pdf  ·  Implemented as Spark SQL queries in analytics.py.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Q1 — Hourly Demand   ·   Q2 — Distance vs Fare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lin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669280" cy="3383280"/>
          </a:xfrm>
          <a:prstGeom prst="rect">
            <a:avLst/>
          </a:prstGeom>
        </p:spPr>
      </p:pic>
      <p:pic>
        <p:nvPicPr>
          <p:cNvPr id="12" name="Picture 11" descr="chart_scatter_revenue_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303520" cy="338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3492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Demand peaks 5–7 PM on weekdays.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Fri/Sat sustain volume late at night.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Lowest volume in the 3–5 AM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3492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Strong positive distance-vs-fare relationship.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Within-bin correlation low (per-bin variance).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Confirms distance as primary fare driver.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Q3 — Payment   ·   Q4 — Tipping   ·   Q5 — Top Pairs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bar_hou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669280" cy="3291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46520" y="1828800"/>
            <a:ext cx="5303520" cy="32918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KEY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860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Q3 Payment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Credit card ≈ 80–84% in core Manhattan zones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Q4 Tip (CC long)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$11.58 avg · 21.2% of fare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Q4 Tip (CC short)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$2.71 avg · 27.9% of fare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Q4 Tip (Cash)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≈ 0 (No-charge / Dispute → ~$0.05)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Q5 Top pair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237 → 236  ·  21,883 trips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3A5F"/>
                </a:solidFill>
                <a:latin typeface="Calibri"/>
              </a:rPr>
              <a:t>•  Q5 Top revenue pair</a:t>
            </a:r>
            <a:r>
              <a:rPr sz="1300" b="0">
                <a:solidFill>
                  <a:srgbClr val="222A35"/>
                </a:solidFill>
                <a:latin typeface="Calibri"/>
              </a:rPr>
              <a:t> — 132 → 132  ·  $246,050 (JFK)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Credit card dominates payment mix at high-volume zones during peak hours.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Tipping rate (% of fare) is highest on short trips; tip dollar amount highest on long trips.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222A35"/>
                </a:solidFill>
                <a:latin typeface="Calibri"/>
              </a:rPr>
              <a:t>•  A handful of pickup/dropoff pairs (Manhattan core + JFK) concentrate disproportionate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BONUS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Pipeline Optimizations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Broadcast joins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Small dim tables broadcast to executors → eliminates shuffle on fact↔dim joins.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Caching reused DataFrame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Cleaned DF cached before deriving fact + dimensions to avoid recomputation.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Partitioned Parquet writes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fact_trips &amp; dim_datetime partitioned by pickup_year, pickup_month.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percentile_approx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Fast quantile estimation for distance capping &amp; median imputation.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Dynamic partition overwrite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spark.sql.sources.partitionOverwriteMode=dynamic for incremental loads.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Tuned shuffle partitions</a:t>
            </a:r>
            <a:r>
              <a:rPr sz="1500" b="0">
                <a:solidFill>
                  <a:srgbClr val="222A35"/>
                </a:solidFill>
                <a:latin typeface="Calibri"/>
              </a:rPr>
              <a:t> — spark.sql.shuffle.partitions=16 for the single-month workload.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Business Insights &amp; 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•  Demand is highly time-bound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Peak 5–7 PM and pre-dawn lulls suggest dynamic supply / surge windows.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•  Distance is the dominant fare driver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Strong positive trend supports predictable, distance-based pricing.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•  NYC taxis are effectively cashless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Credit card holds 80%+ share in the busiest zones — invest in card UX.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•  Tip behaviour is payment-driven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Card riders tip materially; cash / no-charge segments tip near zero.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•  Revenue concentrates in a handful of OD pairs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Manhattan core (161/236/237) and JFK (132) drive disproportionate revenue.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3A5F"/>
                </a:solidFill>
                <a:latin typeface="Calibri"/>
              </a:rPr>
              <a:t>•  Data quality discipline pays off</a:t>
            </a:r>
            <a:r>
              <a:rPr sz="1400" b="0">
                <a:solidFill>
                  <a:srgbClr val="222A35"/>
                </a:solidFill>
                <a:latin typeface="Calibri"/>
              </a:rPr>
              <a:t> — ETL preserved all 2.96M trips while neutralizing nulls, outliers and impossible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338560" cy="9525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NYC Yellow Taxi Pipeline · Group 17 · BSCS-13A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Dataset &amp; GitHub 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11155680" cy="1828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NYC TLC Yellow Taxi Trip Records (Jan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Calibri"/>
              </a:rPr>
              <a:t>https://www.nyc.gov/site/tlc/about/tlc-trip-record-data.page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Direct file: yellow_tripdata_2024-01.parquet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11155680" cy="1828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NYC-Taxi-Ingestion-Pipeline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Calibri"/>
              </a:rPr>
              <a:t>https://github.com/hassaanawan48/NYC-Taxi-Ingestion-Pipeline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Includes ingest.py, profile_data.py, etl.py, analytics.py, build_final_report.py and PDFs.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Calibri"/>
              </a:rPr>
              <a:t>Thank you.  · 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