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237744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BIG DATA ANALYTICS  ·  ASSIGNMENTS 2 &amp;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>
                <a:solidFill>
                  <a:srgbClr val="1F3A5F"/>
                </a:solidFill>
                <a:latin typeface="Calibri"/>
              </a:rPr>
              <a:t>NYC Yellow Taxi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0">
                <a:solidFill>
                  <a:srgbClr val="222A35"/>
                </a:solidFill>
                <a:latin typeface="Calibri"/>
              </a:rPr>
              <a:t>Ingestion, ETL &amp; Analytics on HDFS + Spark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5440680" cy="23317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COURSE &amp;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Course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Big Data Analytics</a:t>
            </a:r>
          </a:p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Class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BSCS-13A</a:t>
            </a:r>
          </a:p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Course Group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Group 3 (BDA, BSCS-13A)</a:t>
            </a:r>
          </a:p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Project Group #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17</a:t>
            </a:r>
          </a:p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Institution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NUST SEECS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154680"/>
            <a:ext cx="5440680" cy="23317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GROUP 17 · CONTRIBUTIONS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0332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Malik Muhammad Hassaan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CMS 460233 · Ingestion · Validation · Profiling · Cleaning strategy</a:t>
            </a:r>
          </a:p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Muhammad Ahmed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CMS 456679 · Spark ETL · Dimensional model · Analytics · Optimizations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155680" cy="31750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7606E"/>
                </a:solidFill>
                <a:latin typeface="Calibri"/>
              </a:rPr>
              <a:t>End-to-end pipeline  ·  2.96M trips  ·  HDFS warehouse  ·  Spark SQL  ·  automated reporting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Hassaan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2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SLIDE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Dataset Overview, Rationale &amp; Business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83080"/>
            <a:ext cx="5532120" cy="219456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7451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DATASET 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4028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Source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NYC TLC Yellow Taxi (Jan 2024)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File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yellow_tripdata_2024-01.parquet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Volume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2,964,624 trips · 19 columns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Format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Parquet — binary, columnar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783080"/>
            <a:ext cx="5532120" cy="219456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WHY THIS 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Volume &gt; 500K rows justifies HDFS + Spark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Each row is a trip — natural fact table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Clear dimensions: time, location, payment, vendor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Real DQ issues — perfect ETL teaching dataset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114800"/>
            <a:ext cx="5532120" cy="219456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WHY ANALYTICS ON THIS DATA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Reveals when and where demand spikes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Quantifies how riders pay and tip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Identifies highest-revenue origin–destination pairs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Surfaces driver / vendor performance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114800"/>
            <a:ext cx="5532120" cy="219456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06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BUSINESS BENEFITS DELIVERED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7200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Surge / dispatch windows → higher revenue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Vehicle repositioning to hot OD pairs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Card-payment investment justified by share data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Tip insights → driver coaching &amp; retention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Data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Hassaan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3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SLIDE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Data Quality Issues &amp; Cleaning Methods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7606E"/>
                </a:solidFill>
                <a:latin typeface="Calibri"/>
              </a:rPr>
              <a:t>Identified in profile_data.py · Resolved in etl.py · 0 nulls in keys after ETL.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0280"/>
            <a:ext cx="5577840" cy="402336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ISSUE  → 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97480"/>
            <a:ext cx="51663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Negative fares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median per distance bin (etl.py 84–93)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Zero passenger count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round + clip min 1 (etl.py 96–99)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Non-integer passenger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round to integer (etl.py 96–99)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Duplicate rows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dropDuplicates (etl.py 71)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Distance outliers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cap at 99th percentile (etl.py 110–114)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240280"/>
            <a:ext cx="5532120" cy="402336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ISSUE  → 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51206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Tip &gt; fare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cap tip at fare (etl.py 102–107)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Missing numerics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median imputation (etl.py 117–125)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Missing categorical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fallback to 0 / mode (etl.py 128–131)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Datetime inconsistencies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to_timestamp + duration (etl.py 74–81)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3A5F"/>
                </a:solidFill>
                <a:latin typeface="Calibri"/>
              </a:rPr>
              <a:t>•  Future timestamps</a:t>
            </a:r>
            <a:r>
              <a:rPr sz="1500" b="0">
                <a:solidFill>
                  <a:srgbClr val="222A35"/>
                </a:solidFill>
                <a:latin typeface="Calibri"/>
              </a:rPr>
              <a:t> — median by hour/weekday (profile 86–88)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Hassaan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4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SLIDE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End-to-End Pipeline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2157984" cy="28346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2157984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57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51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ingest.py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1752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  <a:latin typeface="Calibri"/>
              </a:rPr>
              <a:t>Download · validate ≥ 500K rows · upload to HDFS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25496" y="1828800"/>
            <a:ext cx="2157984" cy="28346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5496" y="1828800"/>
            <a:ext cx="2157984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8376" y="2057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Profile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8376" y="2651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profile_data.py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8376" y="301752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  <a:latin typeface="Calibri"/>
              </a:rPr>
              <a:t>Schema · missing · stats · DQ issues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48072" y="1828800"/>
            <a:ext cx="2157984" cy="28346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1828800"/>
            <a:ext cx="2157984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0952" y="2057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ETL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2651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etl.py (Spark)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0952" y="301752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  <a:latin typeface="Calibri"/>
              </a:rPr>
              <a:t>Clean · derive · star schema · partition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70648" y="1828800"/>
            <a:ext cx="2157984" cy="28346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1828800"/>
            <a:ext cx="2157984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3528" y="2057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2651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analytics.py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3528" y="301752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  <a:latin typeface="Calibri"/>
              </a:rPr>
              <a:t>5 Spark SQL queries · 4 charts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93224" y="1828800"/>
            <a:ext cx="2157984" cy="28346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93224" y="1828800"/>
            <a:ext cx="2157984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76104" y="2057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76104" y="2651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build_final_report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76104" y="301752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  <a:latin typeface="Calibri"/>
              </a:rPr>
              <a:t>Bundle CSVs + charts → PDF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7606E"/>
                </a:solidFill>
                <a:latin typeface="Calibri"/>
              </a:rPr>
              <a:t>Storage:  HDFS  /warehouse/raw/...  →  /warehouse/processed/...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34924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7606E"/>
                </a:solidFill>
                <a:latin typeface="Calibri"/>
              </a:rPr>
              <a:t>Compute:  Apache Spark 3.5.8  ·  PySpark  ·  Spark SQL  ·  HDFS NameNode + DataNode local cluster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7606E"/>
                </a:solidFill>
                <a:latin typeface="Calibri"/>
              </a:rPr>
              <a:t>Validation:  etl_summary.json  ·  raw row count = fact_trips row count = 2,964,624  ·  zero nulls in keys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Warehouse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5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SLIDE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Dimensional Model — Star Schema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3108960" cy="1691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95351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fact_trips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4747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2,964,624 rows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862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5F6F8"/>
                </a:solidFill>
                <a:latin typeface="Calibri"/>
              </a:rPr>
              <a:t>distance · fare · tip · revenue · 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828800"/>
            <a:ext cx="2743200" cy="12344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828800"/>
            <a:ext cx="274320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02996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3A5F"/>
                </a:solidFill>
                <a:latin typeface="Calibri"/>
              </a:rPr>
              <a:t>dim_datetime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5420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7606E"/>
                </a:solidFill>
                <a:latin typeface="Calibri"/>
              </a:rPr>
              <a:t>749 rows · etl.py 164–169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1828800"/>
            <a:ext cx="2743200" cy="12344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0" y="1828800"/>
            <a:ext cx="274320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202996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3A5F"/>
                </a:solidFill>
                <a:latin typeface="Calibri"/>
              </a:rPr>
              <a:t>dim_payment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5420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7606E"/>
                </a:solidFill>
                <a:latin typeface="Calibri"/>
              </a:rPr>
              <a:t>5 rows · etl.py 171–184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5074920"/>
            <a:ext cx="2743200" cy="12344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5074920"/>
            <a:ext cx="2743200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52760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3A5F"/>
                </a:solidFill>
                <a:latin typeface="Calibri"/>
              </a:rPr>
              <a:t>dim_trip_category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7881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7606E"/>
                </a:solidFill>
                <a:latin typeface="Calibri"/>
              </a:rPr>
              <a:t>3 rows · etl.py 186–195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7606E"/>
                </a:solidFill>
                <a:latin typeface="Calibri"/>
              </a:rPr>
              <a:t>Joined on natural keys: datetime_key · payment_type · distance_bucket  ·  small dims → broadcast joins.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6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SLIDE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Five Business Questions  (analytics.py)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111556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Q1</a:t>
            </a:r>
            <a:r>
              <a:rPr sz="2000" b="0">
                <a:solidFill>
                  <a:srgbClr val="222A35"/>
                </a:solidFill>
                <a:latin typeface="Calibri"/>
              </a:rPr>
              <a:t> — Trip volume &amp; average fare by hour and day of week  (lines 43–65)</a:t>
            </a:r>
          </a:p>
          <a:p>
            <a:pPr algn="l">
              <a:lnSpc>
                <a:spcPct val="155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Q2</a:t>
            </a:r>
            <a:r>
              <a:rPr sz="2000" b="0">
                <a:solidFill>
                  <a:srgbClr val="222A35"/>
                </a:solidFill>
                <a:latin typeface="Calibri"/>
              </a:rPr>
              <a:t> — Correlation between trip distance and fare amount  (lines 66–77)</a:t>
            </a:r>
          </a:p>
          <a:p>
            <a:pPr algn="l">
              <a:lnSpc>
                <a:spcPct val="155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Q3</a:t>
            </a:r>
            <a:r>
              <a:rPr sz="2000" b="0">
                <a:solidFill>
                  <a:srgbClr val="222A35"/>
                </a:solidFill>
                <a:latin typeface="Calibri"/>
              </a:rPr>
              <a:t> — Payment-type preference by time and pickup location  (lines 78–96)</a:t>
            </a:r>
          </a:p>
          <a:p>
            <a:pPr algn="l">
              <a:lnSpc>
                <a:spcPct val="155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Q4</a:t>
            </a:r>
            <a:r>
              <a:rPr sz="2000" b="0">
                <a:solidFill>
                  <a:srgbClr val="222A35"/>
                </a:solidFill>
                <a:latin typeface="Calibri"/>
              </a:rPr>
              <a:t> — Average tip by payment type, distance, and vendor  (lines 97–111)</a:t>
            </a:r>
          </a:p>
          <a:p>
            <a:pPr algn="l">
              <a:lnSpc>
                <a:spcPct val="155000"/>
              </a:lnSpc>
            </a:pPr>
            <a:r>
              <a:rPr sz="2000" b="1">
                <a:solidFill>
                  <a:srgbClr val="1F3A5F"/>
                </a:solidFill>
                <a:latin typeface="Calibri"/>
              </a:rPr>
              <a:t>Q5</a:t>
            </a:r>
            <a:r>
              <a:rPr sz="2000" b="0">
                <a:solidFill>
                  <a:srgbClr val="222A35"/>
                </a:solidFill>
                <a:latin typeface="Calibri"/>
              </a:rPr>
              <a:t> — Top pickup → dropoff pairs by volume and revenue  (lines 112–126)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7606E"/>
                </a:solidFill>
                <a:latin typeface="Calibri"/>
              </a:rPr>
              <a:t>Source of questions: Dataset_Justification.pdf  ·  Implemented as Spark SQL views over fact_trips and dims.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Findings — Q1 &amp;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Q1 — Hourly Demand   ·   Q2 — Distance vs Fare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_lin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669280" cy="3200400"/>
          </a:xfrm>
          <a:prstGeom prst="rect">
            <a:avLst/>
          </a:prstGeom>
        </p:spPr>
      </p:pic>
      <p:pic>
        <p:nvPicPr>
          <p:cNvPr id="13" name="Picture 12" descr="chart_scatter_revenue_du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83080"/>
            <a:ext cx="5303520" cy="320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512064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Demand peaks 5–7 PM on weekdays.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Fri/Sat sustain volume late at night.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Lowest volume in the 3–5 AM window.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12064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Strong positive distance ↔ fare relationship.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Within-bin correlation low → time/traffic noise.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Distance is the dominant fare driver.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Findings — Q3, Q4, Q5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8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Q3 Payment   ·   Q4 Tipping   ·   Q5 Top OD Pairs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_bar_hour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669280" cy="32004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46520" y="1783080"/>
            <a:ext cx="5303520" cy="32004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KEY NUMBERS FROM CSVs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860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•  Q3 Payment</a:t>
            </a:r>
            <a:r>
              <a:rPr sz="1400" b="0">
                <a:solidFill>
                  <a:srgbClr val="222A35"/>
                </a:solidFill>
                <a:latin typeface="Calibri"/>
              </a:rPr>
              <a:t> — Credit card 80–84% in zones 161/236/237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•  Q4 Tip CC long</a:t>
            </a:r>
            <a:r>
              <a:rPr sz="1400" b="0">
                <a:solidFill>
                  <a:srgbClr val="222A35"/>
                </a:solidFill>
                <a:latin typeface="Calibri"/>
              </a:rPr>
              <a:t> — $11.58  ·  21.2% of fare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•  Q4 Tip CC short</a:t>
            </a:r>
            <a:r>
              <a:rPr sz="1400" b="0">
                <a:solidFill>
                  <a:srgbClr val="222A35"/>
                </a:solidFill>
                <a:latin typeface="Calibri"/>
              </a:rPr>
              <a:t> — $2.71  ·  27.9% of fare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•  Q4 Cash / dispute</a:t>
            </a:r>
            <a:r>
              <a:rPr sz="1400" b="0">
                <a:solidFill>
                  <a:srgbClr val="222A35"/>
                </a:solidFill>
                <a:latin typeface="Calibri"/>
              </a:rPr>
              <a:t> — ≈ $0  (no-charge $0.11)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•  Q5 Top volume</a:t>
            </a:r>
            <a:r>
              <a:rPr sz="1400" b="0">
                <a:solidFill>
                  <a:srgbClr val="222A35"/>
                </a:solidFill>
                <a:latin typeface="Calibri"/>
              </a:rPr>
              <a:t> — 237 → 236  ·  21,883 trips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1F3A5F"/>
                </a:solidFill>
                <a:latin typeface="Calibri"/>
              </a:rPr>
              <a:t>•  Q5 Top revenue</a:t>
            </a:r>
            <a:r>
              <a:rPr sz="1400" b="0">
                <a:solidFill>
                  <a:srgbClr val="222A35"/>
                </a:solidFill>
                <a:latin typeface="Calibri"/>
              </a:rPr>
              <a:t> — 132 → 132  ·  $246,050 (JFK)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2064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Credit card dominates payment in core Manhattan during peak hours.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Tip $ highest on long trips; tip % highest on short trips.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222A35"/>
                </a:solidFill>
                <a:latin typeface="Calibri"/>
              </a:rPr>
              <a:t>•  A handful of OD pairs (Manhattan core + JFK) drive most revenue.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9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BONUS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Pipeline Optimizations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11155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•  Broadcast joins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small dims wrapped in F.broadcast(...)  (etl.py 198–200)</a:t>
            </a:r>
          </a:p>
          <a:p>
            <a:pPr algn="l">
              <a:lnSpc>
                <a:spcPct val="140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•  Cache reused DF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transformed.cache() before deriving fact + dims  (etl.py 161)</a:t>
            </a:r>
          </a:p>
          <a:p>
            <a:pPr algn="l">
              <a:lnSpc>
                <a:spcPct val="140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•  Partitioned Parquet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fact_trips &amp; dim_datetime partitioned by year, month  (etl.py 370, 373)</a:t>
            </a:r>
          </a:p>
          <a:p>
            <a:pPr algn="l">
              <a:lnSpc>
                <a:spcPct val="140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•  Approx percentile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percentile_approx for distance cap &amp; medians  (etl.py 110, 117–122)</a:t>
            </a:r>
          </a:p>
          <a:p>
            <a:pPr algn="l">
              <a:lnSpc>
                <a:spcPct val="140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•  Dynamic partition overwrite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partitionOverwriteMode=dynamic  (etl.py 60)</a:t>
            </a:r>
          </a:p>
          <a:p>
            <a:pPr algn="l">
              <a:lnSpc>
                <a:spcPct val="140000"/>
              </a:lnSpc>
            </a:pPr>
            <a:r>
              <a:rPr sz="1700" b="1">
                <a:solidFill>
                  <a:srgbClr val="1F3A5F"/>
                </a:solidFill>
                <a:latin typeface="Calibri"/>
              </a:rPr>
              <a:t>•  Tuned shuffle partitions</a:t>
            </a:r>
            <a:r>
              <a:rPr sz="1700" b="0">
                <a:solidFill>
                  <a:srgbClr val="222A35"/>
                </a:solidFill>
                <a:latin typeface="Calibri"/>
              </a:rPr>
              <a:t> — spark.sql.shuffle.partitions = 16  (etl.py 59)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10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SLIDE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Business Insights &amp; Conclusion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111556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•  Demand is time-bound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Peak 5–7 PM, dawn lull → dynamic dispatch / surge windows.</a:t>
            </a:r>
          </a:p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•  Distance dominates fare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Strong positive trend → predictable distance-based pricing.</a:t>
            </a:r>
          </a:p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•  NYC taxis are cashless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Credit card 80%+ in busiest zones → invest in card UX.</a:t>
            </a:r>
          </a:p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•  Tipping is payment-driven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Card riders tip materially; cash / disputes ≈ 0.</a:t>
            </a:r>
          </a:p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•  Revenue concentrated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Manhattan core (161/236/237) + JFK (132) drive most revenue.</a:t>
            </a:r>
          </a:p>
          <a:p>
            <a:pPr algn="l">
              <a:lnSpc>
                <a:spcPct val="140000"/>
              </a:lnSpc>
            </a:pPr>
            <a:r>
              <a:rPr sz="1600" b="1">
                <a:solidFill>
                  <a:srgbClr val="1F3A5F"/>
                </a:solidFill>
                <a:latin typeface="Calibri"/>
              </a:rPr>
              <a:t>•  Data quality discipline</a:t>
            </a:r>
            <a:r>
              <a:rPr sz="1600" b="0">
                <a:solidFill>
                  <a:srgbClr val="222A35"/>
                </a:solidFill>
                <a:latin typeface="Calibri"/>
              </a:rPr>
              <a:t> — All 2.96M rows preserved · 0 nulls in keys (etl_summary.json).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11338560" cy="9525"/>
          </a:xfrm>
          <a:prstGeom prst="rect">
            <a:avLst/>
          </a:prstGeom>
          <a:solidFill>
            <a:srgbClr val="D7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7606E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934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7606E"/>
                </a:solidFill>
                <a:latin typeface="Calibri"/>
              </a:rPr>
              <a:t>Presenter: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10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7606E"/>
                </a:solidFill>
                <a:latin typeface="Calibri"/>
              </a:rPr>
              <a:t>11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69340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7606E"/>
                </a:solidFill>
                <a:latin typeface="Calibri"/>
              </a:rPr>
              <a:t>Group 17  ·  BSCS-13A  ·  BDA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Calibri"/>
              </a:rPr>
              <a:t>SLIDE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772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A5F"/>
                </a:solidFill>
                <a:latin typeface="Calibri"/>
              </a:rPr>
              <a:t>Dataset &amp; GitHub Repository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640080" cy="3175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155680" cy="18288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3172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NYC TLC Yellow Taxi Trip Records (Jan 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22A35"/>
                </a:solidFill>
                <a:latin typeface="Calibri"/>
              </a:rPr>
              <a:t>https://www.nyc.gov/site/tlc/about/tlc-trip-record-data.page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2461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7606E"/>
                </a:solidFill>
                <a:latin typeface="Calibri"/>
              </a:rPr>
              <a:t>File: yellow_tripdata_2024-01.parquet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55680" cy="18288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77639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Calibri"/>
              </a:rPr>
              <a:t>GITHUB 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Calibri"/>
              </a:rPr>
              <a:t>NYC-Taxi-Ingestion-Pipeline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92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22A35"/>
                </a:solidFill>
                <a:latin typeface="Calibri"/>
              </a:rPr>
              <a:t>https://github.com/hassaanawan48/NYC-Taxi-Ingestion-Pipeline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7606E"/>
                </a:solidFill>
                <a:latin typeface="Calibri"/>
              </a:rPr>
              <a:t>Includes ingest.py · profile_data.py · etl.py · analytics.py · build_final_report.py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3A5F"/>
                </a:solidFill>
                <a:latin typeface="Calibri"/>
              </a:rPr>
              <a:t>Thank you  ·  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